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Gelasio"/>
      <p:regular r:id="rId201314"/>
    </p:embeddedFont>
    <p:embeddedFont>
      <p:font typeface="Gelasio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image" Target="../media/image-3-2.png"/><Relationship Id="rId9" Type="http://schemas.openxmlformats.org/officeDocument/2006/relationships/image" Target="../media/image-3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4293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707705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Uncovering insights from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across product categories — spending patterns, customer segments, and subscription behavior to guide strategic business decisions.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577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Dataset at a Glance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09092"/>
            <a:ext cx="6936011" cy="39304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71333" y="2733080"/>
            <a:ext cx="3565138" cy="1082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features include customer demographics (Age, Gender, Location, Subscription Status), purchase details (Item, Category, Amount, Season), and shopping behavior (Discount, Frequency, Review Rating, Shipping Type).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61475" y="5509419"/>
            <a:ext cx="3542914" cy="825004"/>
          </a:xfrm>
          <a:prstGeom prst="roundRect">
            <a:avLst>
              <a:gd name="adj" fmla="val 2739"/>
            </a:avLst>
          </a:prstGeom>
          <a:solidFill>
            <a:srgbClr val="373433"/>
          </a:solidFill>
          <a:ln/>
        </p:spPr>
      </p:sp>
      <p:sp>
        <p:nvSpPr>
          <p:cNvPr id="6" name="Text 3"/>
          <p:cNvSpPr/>
          <p:nvPr/>
        </p:nvSpPr>
        <p:spPr>
          <a:xfrm>
            <a:off x="812085" y="5660033"/>
            <a:ext cx="3241693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3,900 Rows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12085" y="5967313"/>
            <a:ext cx="3241693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Individual purchase transactions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24341" y="5509419"/>
            <a:ext cx="3542914" cy="825004"/>
          </a:xfrm>
          <a:prstGeom prst="roundRect">
            <a:avLst>
              <a:gd name="adj" fmla="val 2739"/>
            </a:avLst>
          </a:prstGeom>
          <a:solidFill>
            <a:srgbClr val="373433"/>
          </a:solidFill>
          <a:ln/>
        </p:spPr>
      </p:sp>
      <p:sp>
        <p:nvSpPr>
          <p:cNvPr id="9" name="Text 6"/>
          <p:cNvSpPr/>
          <p:nvPr/>
        </p:nvSpPr>
        <p:spPr>
          <a:xfrm>
            <a:off x="4474951" y="5660033"/>
            <a:ext cx="3241693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18 Columns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474951" y="5967313"/>
            <a:ext cx="3241693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Rich feature set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987207" y="5509419"/>
            <a:ext cx="3543013" cy="825004"/>
          </a:xfrm>
          <a:prstGeom prst="roundRect">
            <a:avLst>
              <a:gd name="adj" fmla="val 2739"/>
            </a:avLst>
          </a:prstGeom>
          <a:solidFill>
            <a:srgbClr val="373433"/>
          </a:solidFill>
          <a:ln/>
        </p:spPr>
      </p:sp>
      <p:sp>
        <p:nvSpPr>
          <p:cNvPr id="12" name="Text 9"/>
          <p:cNvSpPr/>
          <p:nvPr/>
        </p:nvSpPr>
        <p:spPr>
          <a:xfrm>
            <a:off x="8137818" y="5660033"/>
            <a:ext cx="324179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37 Missing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137818" y="5967313"/>
            <a:ext cx="324179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Values in Review Rating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20204"/>
            <a:ext cx="6296860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Preparation in Python</a:t>
            </a:r>
            <a:endParaRPr lang="en-US" sz="3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2018" y="1364059"/>
            <a:ext cx="274631" cy="2746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828360" y="1358404"/>
            <a:ext cx="5701860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Load &amp; Explore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5828360" y="1750814"/>
            <a:ext cx="5701860" cy="595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Imported via pandas; used 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C9C2C0"/>
                </a:solidFill>
                <a:highlight>
                  <a:srgbClr val="53504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and 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C9C2C0"/>
                </a:solidFill>
                <a:highlight>
                  <a:srgbClr val="53504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for initial structure and statistics.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02018" y="2707084"/>
            <a:ext cx="274631" cy="2746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828360" y="2701429"/>
            <a:ext cx="5701860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Clean &amp; Standardize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5828360" y="3093839"/>
            <a:ext cx="5701860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Imputed missing Review Ratings using median per category; renamed columns to snake_case.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02018" y="4031059"/>
            <a:ext cx="274631" cy="27463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828360" y="4025404"/>
            <a:ext cx="5701860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Feature Engineering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5828360" y="4417814"/>
            <a:ext cx="5701860" cy="595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Created 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C9C2C0"/>
                </a:solidFill>
                <a:highlight>
                  <a:srgbClr val="53504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by binning ages and 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C9C2C0"/>
                </a:solidFill>
                <a:highlight>
                  <a:srgbClr val="53504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from purchase data.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02018" y="5374084"/>
            <a:ext cx="274631" cy="27463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828360" y="5368429"/>
            <a:ext cx="5701860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Database Integration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5828360" y="5760839"/>
            <a:ext cx="5701860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Connected to PostgreSQL and loaded the cleaned DataFrame for SQL analysis.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8638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Revenue &amp; Spending Insights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62138"/>
            <a:ext cx="6915870" cy="3919041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8737" y="1494730"/>
            <a:ext cx="3527734" cy="13549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78209" y="1688009"/>
            <a:ext cx="3064989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Revenue by Gender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8278209" y="2120801"/>
            <a:ext cx="3064989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Compared total revenue generated by male vs. female customers.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8737" y="3010297"/>
            <a:ext cx="3527734" cy="162272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78209" y="3203575"/>
            <a:ext cx="3064989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High-Spending Discount Users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8278209" y="3636367"/>
            <a:ext cx="3064989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Identified customers who used discounts but still spent above the average purchase amount.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08737" y="4793655"/>
            <a:ext cx="3527734" cy="135493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78209" y="4986933"/>
            <a:ext cx="3064989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Revenue by Age Group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8278209" y="5419725"/>
            <a:ext cx="3064989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Calculated total revenue contribution of each age group.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0111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Products &amp; Ratings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71452"/>
            <a:ext cx="6941071" cy="393332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61907" y="1313160"/>
            <a:ext cx="3574564" cy="10729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01812" y="1476871"/>
            <a:ext cx="3170952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Top 5 Products by Rating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8201812" y="1813620"/>
            <a:ext cx="3170952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Found products with the highest average review ratings.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61907" y="2496840"/>
            <a:ext cx="3574564" cy="10729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01812" y="2660551"/>
            <a:ext cx="3170952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Top 3 Products per Category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8201812" y="2997299"/>
            <a:ext cx="3170952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Listed the most purchased products within each category.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61907" y="3680520"/>
            <a:ext cx="3574564" cy="10729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01812" y="3844230"/>
            <a:ext cx="3170952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Discount-Dependent Products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8201812" y="4180979"/>
            <a:ext cx="3170952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Identified 5 products with the highest percentage of discounted purchases.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61907" y="4864199"/>
            <a:ext cx="3574564" cy="129897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201812" y="5027910"/>
            <a:ext cx="317095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Products Purchased by 100+ Customers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8201812" y="5590679"/>
            <a:ext cx="3170952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Identified which products have been purchased by more than 100 customers.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4854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Shipping, Payments &amp; Categories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817217"/>
            <a:ext cx="1524756" cy="9423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99583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Shipping Type Comparison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404519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Compared average purchase amounts between Standard and Express shipping.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2817217"/>
            <a:ext cx="1524756" cy="9423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99583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Payment Method Analysis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404519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Which payment method generates the highest average purchase amount?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2817217"/>
            <a:ext cx="1524756" cy="9423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99583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Category Purchase Analysis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404519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Average purchase amount per product category — which categories exceed $50?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Customer Segmentation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338513"/>
            <a:ext cx="531551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Customers were classified into </a:t>
            </a:r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New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</a:t>
            </a:r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Returning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and </a:t>
            </a:r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Loyal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segments based on purchase history. Repeat buyers with more than 5 purchases were analyzed to check whether they are more likely to subscribe.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6221058" y="3631109"/>
            <a:ext cx="5315512" cy="256977"/>
          </a:xfrm>
          <a:prstGeom prst="roundRect">
            <a:avLst>
              <a:gd name="adj" fmla="val 5689"/>
            </a:avLst>
          </a:prstGeom>
          <a:solidFill>
            <a:srgbClr val="54392B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489" y="3705622"/>
            <a:ext cx="121738" cy="974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37658" y="3700562"/>
            <a:ext cx="551106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Repeat buyers with </a:t>
            </a:r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&gt;5 purchases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were checked for subscription likelihood — a key lever for loyalty programs.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331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Subscriber &amp; Location Analysis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10060"/>
            <a:ext cx="6903269" cy="391189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2251" y="1954709"/>
            <a:ext cx="3504219" cy="181322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48255" y="2169120"/>
            <a:ext cx="297380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Subscribers vs. Non-Subscribers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8348255" y="2948682"/>
            <a:ext cx="29738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Compared average spend and total revenue across subscription status.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2251" y="3956943"/>
            <a:ext cx="3504219" cy="182036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348255" y="4171355"/>
            <a:ext cx="29738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Location Analysis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8348255" y="4655641"/>
            <a:ext cx="29738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Which locations have the highest number of customers and what is their total revenue?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53831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Power BI Dashboard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412430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interactive Power BI dashboard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was built to present all insights visually — enabling stakeholders to explore revenue, segments, product performance, and subscription trends at a glance.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256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Business Recommendations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671241"/>
            <a:ext cx="3496877" cy="2147590"/>
          </a:xfrm>
          <a:prstGeom prst="roundRect">
            <a:avLst>
              <a:gd name="adj" fmla="val 1320"/>
            </a:avLst>
          </a:prstGeom>
          <a:solidFill>
            <a:srgbClr val="373433"/>
          </a:solidFill>
          <a:ln/>
        </p:spPr>
      </p:sp>
      <p:sp>
        <p:nvSpPr>
          <p:cNvPr id="4" name="Shape 2"/>
          <p:cNvSpPr/>
          <p:nvPr/>
        </p:nvSpPr>
        <p:spPr>
          <a:xfrm>
            <a:off x="850482" y="1860252"/>
            <a:ext cx="567021" cy="567035"/>
          </a:xfrm>
          <a:prstGeom prst="ellipse">
            <a:avLst/>
          </a:prstGeom>
          <a:solidFill>
            <a:srgbClr val="C49F8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6450" y="2016125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482" y="2616299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Boost Subscriptions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0482" y="3024981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Promote exclusive benefits for subscribers.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47359" y="1671241"/>
            <a:ext cx="3496877" cy="2147590"/>
          </a:xfrm>
          <a:prstGeom prst="roundRect">
            <a:avLst>
              <a:gd name="adj" fmla="val 1320"/>
            </a:avLst>
          </a:prstGeom>
          <a:solidFill>
            <a:srgbClr val="373433"/>
          </a:solidFill>
          <a:ln/>
        </p:spPr>
      </p:sp>
      <p:sp>
        <p:nvSpPr>
          <p:cNvPr id="9" name="Shape 6"/>
          <p:cNvSpPr/>
          <p:nvPr/>
        </p:nvSpPr>
        <p:spPr>
          <a:xfrm>
            <a:off x="4536366" y="1860252"/>
            <a:ext cx="567021" cy="567035"/>
          </a:xfrm>
          <a:prstGeom prst="ellipse">
            <a:avLst/>
          </a:prstGeom>
          <a:solidFill>
            <a:srgbClr val="C49F8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2334" y="2016125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36366" y="2616299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Loyalty Programs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536366" y="3024981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Reward repeat buyers to move them into the "Loyal" segment.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33244" y="1671241"/>
            <a:ext cx="3496877" cy="2147590"/>
          </a:xfrm>
          <a:prstGeom prst="roundRect">
            <a:avLst>
              <a:gd name="adj" fmla="val 1320"/>
            </a:avLst>
          </a:prstGeom>
          <a:solidFill>
            <a:srgbClr val="373433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2251" y="1860252"/>
            <a:ext cx="567021" cy="567035"/>
          </a:xfrm>
          <a:prstGeom prst="ellipse">
            <a:avLst/>
          </a:prstGeom>
          <a:solidFill>
            <a:srgbClr val="C49F8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78219" y="2016125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2251" y="2616299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Review Discount Policy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222251" y="3024981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Balance sales boosts with margin control.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61475" y="4007842"/>
            <a:ext cx="5339820" cy="2147590"/>
          </a:xfrm>
          <a:prstGeom prst="roundRect">
            <a:avLst>
              <a:gd name="adj" fmla="val 1320"/>
            </a:avLst>
          </a:prstGeom>
          <a:solidFill>
            <a:srgbClr val="373433"/>
          </a:solidFill>
          <a:ln/>
        </p:spPr>
      </p:sp>
      <p:sp>
        <p:nvSpPr>
          <p:cNvPr id="19" name="Shape 14"/>
          <p:cNvSpPr/>
          <p:nvPr/>
        </p:nvSpPr>
        <p:spPr>
          <a:xfrm>
            <a:off x="850482" y="4196854"/>
            <a:ext cx="567021" cy="567035"/>
          </a:xfrm>
          <a:prstGeom prst="ellipse">
            <a:avLst/>
          </a:prstGeom>
          <a:solidFill>
            <a:srgbClr val="C49F8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6450" y="4352727"/>
            <a:ext cx="255085" cy="2550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0482" y="4952901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Product Positioning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850482" y="5361583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Highlight top-rated and best-selling products in campaigns.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6190301" y="4007842"/>
            <a:ext cx="5339820" cy="2147590"/>
          </a:xfrm>
          <a:prstGeom prst="roundRect">
            <a:avLst>
              <a:gd name="adj" fmla="val 1320"/>
            </a:avLst>
          </a:prstGeom>
          <a:solidFill>
            <a:srgbClr val="373433"/>
          </a:solidFill>
          <a:ln/>
        </p:spPr>
      </p:sp>
      <p:sp>
        <p:nvSpPr>
          <p:cNvPr id="24" name="Shape 18"/>
          <p:cNvSpPr/>
          <p:nvPr/>
        </p:nvSpPr>
        <p:spPr>
          <a:xfrm>
            <a:off x="6379308" y="4196854"/>
            <a:ext cx="567021" cy="567035"/>
          </a:xfrm>
          <a:prstGeom prst="ellipse">
            <a:avLst/>
          </a:prstGeom>
          <a:solidFill>
            <a:srgbClr val="C49F8C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35276" y="4352727"/>
            <a:ext cx="255085" cy="25509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379308" y="4952901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Targeted Marketing</a:t>
            </a:r>
            <a:endParaRPr lang="en-US" sz="1850" dirty="0"/>
          </a:p>
        </p:txBody>
      </p:sp>
      <p:sp>
        <p:nvSpPr>
          <p:cNvPr id="27" name="Text 20"/>
          <p:cNvSpPr/>
          <p:nvPr/>
        </p:nvSpPr>
        <p:spPr>
          <a:xfrm>
            <a:off x="6379308" y="5361583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Focus efforts on high-revenue age groups and express-shipping users.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2026-08-26T17:11:50Z</dcterms:created>
  <dcterms:modified xsi:type="dcterms:W3CDTF">2026-08-26T17:11:50Z</dcterms:modified>
</cp:coreProperties>
</file>